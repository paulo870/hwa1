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29LT Bukra Semi Condensed Bold" charset="1" panose="020B0806040000000004"/>
      <p:regular r:id="rId17"/>
    </p:embeddedFont>
    <p:embeddedFont>
      <p:font typeface="Times New Roman Bold" charset="1" panose="02020803070505020304"/>
      <p:regular r:id="rId18"/>
    </p:embeddedFont>
    <p:embeddedFont>
      <p:font typeface="Times New Roman" charset="1" panose="02020603050405020304"/>
      <p:regular r:id="rId19"/>
    </p:embeddedFont>
    <p:embeddedFont>
      <p:font typeface="Times New Roman MT Bold" charset="1" panose="02030802070405020303"/>
      <p:regular r:id="rId20"/>
    </p:embeddedFont>
    <p:embeddedFont>
      <p:font typeface="Times New Roman MT" charset="1" panose="02030502070405020303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8.jpe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3.jpeg" Type="http://schemas.openxmlformats.org/officeDocument/2006/relationships/image"/><Relationship Id="rId6" Target="../media/image2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3.jpeg" Type="http://schemas.openxmlformats.org/officeDocument/2006/relationships/image"/><Relationship Id="rId6" Target="../media/image2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09201" y="2118761"/>
            <a:ext cx="13106968" cy="13833191"/>
            <a:chOff x="0" y="0"/>
            <a:chExt cx="17475957" cy="18444255"/>
          </a:xfrm>
        </p:grpSpPr>
        <p:grpSp>
          <p:nvGrpSpPr>
            <p:cNvPr name="Group 4" id="4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1BAFAB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8518927" y="6255593"/>
            <a:ext cx="4260486" cy="2316639"/>
          </a:xfrm>
          <a:custGeom>
            <a:avLst/>
            <a:gdLst/>
            <a:ahLst/>
            <a:cxnLst/>
            <a:rect r="r" b="b" t="t" l="l"/>
            <a:pathLst>
              <a:path h="2316639" w="4260486">
                <a:moveTo>
                  <a:pt x="0" y="0"/>
                </a:moveTo>
                <a:lnTo>
                  <a:pt x="4260486" y="0"/>
                </a:lnTo>
                <a:lnTo>
                  <a:pt x="4260486" y="2316639"/>
                </a:lnTo>
                <a:lnTo>
                  <a:pt x="0" y="2316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33150" y="3001218"/>
            <a:ext cx="16432041" cy="3020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4"/>
              </a:lnSpc>
            </a:pPr>
            <a:r>
              <a:rPr lang="en-US" b="true" sz="9459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Present Simple  </a:t>
            </a:r>
          </a:p>
          <a:p>
            <a:pPr algn="ctr">
              <a:lnSpc>
                <a:spcPts val="10594"/>
              </a:lnSpc>
            </a:pPr>
            <a:r>
              <a:rPr lang="en-US" b="true" sz="9459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Tense                             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-1567404" y="176027"/>
            <a:ext cx="6216278" cy="3380101"/>
          </a:xfrm>
          <a:custGeom>
            <a:avLst/>
            <a:gdLst/>
            <a:ahLst/>
            <a:cxnLst/>
            <a:rect r="r" b="b" t="t" l="l"/>
            <a:pathLst>
              <a:path h="3380101" w="6216278">
                <a:moveTo>
                  <a:pt x="6216279" y="0"/>
                </a:moveTo>
                <a:lnTo>
                  <a:pt x="0" y="0"/>
                </a:lnTo>
                <a:lnTo>
                  <a:pt x="0" y="3380101"/>
                </a:lnTo>
                <a:lnTo>
                  <a:pt x="6216279" y="3380101"/>
                </a:lnTo>
                <a:lnTo>
                  <a:pt x="6216279" y="0"/>
                </a:lnTo>
                <a:close/>
              </a:path>
            </a:pathLst>
          </a:custGeom>
          <a:blipFill>
            <a:blip r:embed="rId4">
              <a:alphaModFix amt="2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748567" y="9035357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-10800000">
            <a:off x="9733970" y="-6245559"/>
            <a:ext cx="13106968" cy="13833191"/>
            <a:chOff x="0" y="0"/>
            <a:chExt cx="17475957" cy="18444255"/>
          </a:xfrm>
        </p:grpSpPr>
        <p:grpSp>
          <p:nvGrpSpPr>
            <p:cNvPr name="Group 16" id="16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20" id="20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1BAFAB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3" id="23"/>
          <p:cNvSpPr/>
          <p:nvPr/>
        </p:nvSpPr>
        <p:spPr>
          <a:xfrm flipH="false" flipV="false" rot="0">
            <a:off x="5812876" y="176027"/>
            <a:ext cx="4171172" cy="1846367"/>
          </a:xfrm>
          <a:custGeom>
            <a:avLst/>
            <a:gdLst/>
            <a:ahLst/>
            <a:cxnLst/>
            <a:rect r="r" b="b" t="t" l="l"/>
            <a:pathLst>
              <a:path h="1846367" w="4171172">
                <a:moveTo>
                  <a:pt x="0" y="0"/>
                </a:moveTo>
                <a:lnTo>
                  <a:pt x="4171172" y="0"/>
                </a:lnTo>
                <a:lnTo>
                  <a:pt x="4171172" y="1846367"/>
                </a:lnTo>
                <a:lnTo>
                  <a:pt x="0" y="18463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961847" y="5042010"/>
            <a:ext cx="2233211" cy="452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40"/>
              </a:lnSpc>
            </a:pPr>
            <a:r>
              <a:rPr lang="en-US" b="true" sz="28322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83900"/>
            <a:ext cx="2130243" cy="1158320"/>
          </a:xfrm>
          <a:custGeom>
            <a:avLst/>
            <a:gdLst/>
            <a:ahLst/>
            <a:cxnLst/>
            <a:rect r="r" b="b" t="t" l="l"/>
            <a:pathLst>
              <a:path h="1158320" w="2130243">
                <a:moveTo>
                  <a:pt x="0" y="0"/>
                </a:moveTo>
                <a:lnTo>
                  <a:pt x="2130243" y="0"/>
                </a:lnTo>
                <a:lnTo>
                  <a:pt x="2130243" y="1158319"/>
                </a:lnTo>
                <a:lnTo>
                  <a:pt x="0" y="1158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92918" y="-5132496"/>
            <a:ext cx="12739640" cy="14145964"/>
            <a:chOff x="0" y="0"/>
            <a:chExt cx="16986187" cy="18861285"/>
          </a:xfrm>
        </p:grpSpPr>
        <p:grpSp>
          <p:nvGrpSpPr>
            <p:cNvPr name="Group 5" id="5"/>
            <p:cNvGrpSpPr/>
            <p:nvPr/>
          </p:nvGrpSpPr>
          <p:grpSpPr>
            <a:xfrm rot="-2362977">
              <a:off x="6337534" y="3236499"/>
              <a:ext cx="3096100" cy="15044598"/>
              <a:chOff x="0" y="0"/>
              <a:chExt cx="611575" cy="297177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2955397">
              <a:off x="-2327307" y="7541991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-2362977">
              <a:off x="8310488" y="1886008"/>
              <a:ext cx="3845230" cy="15089269"/>
              <a:chOff x="0" y="0"/>
              <a:chExt cx="759552" cy="29805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1BAFA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3336331" y="1069073"/>
            <a:ext cx="11390223" cy="486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06"/>
              </a:lnSpc>
            </a:pPr>
            <a:r>
              <a:rPr lang="en-US" sz="10541" b="true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Langu</a:t>
            </a:r>
            <a:r>
              <a:rPr lang="en-US" sz="10541" b="true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age at Work: Present Simple</a:t>
            </a:r>
          </a:p>
          <a:p>
            <a:pPr algn="l">
              <a:lnSpc>
                <a:spcPts val="11806"/>
              </a:lnSpc>
            </a:pPr>
          </a:p>
        </p:txBody>
      </p:sp>
      <p:sp>
        <p:nvSpPr>
          <p:cNvPr name="AutoShape 13" id="13"/>
          <p:cNvSpPr/>
          <p:nvPr/>
        </p:nvSpPr>
        <p:spPr>
          <a:xfrm>
            <a:off x="2325109" y="4497257"/>
            <a:ext cx="12401445" cy="0"/>
          </a:xfrm>
          <a:prstGeom prst="line">
            <a:avLst/>
          </a:prstGeom>
          <a:ln cap="rnd" w="123825">
            <a:solidFill>
              <a:srgbClr val="1BAF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3718512" y="4761614"/>
            <a:ext cx="12125999" cy="245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Facts • Habits • Routines • General Truths</a:t>
            </a:r>
          </a:p>
          <a:p>
            <a:pPr algn="l">
              <a:lnSpc>
                <a:spcPts val="4637"/>
              </a:lnSpc>
            </a:pPr>
            <a:r>
              <a:rPr lang="en-US" sz="3312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</a:t>
            </a:r>
            <a:r>
              <a:rPr lang="en-US" sz="3312">
                <a:solidFill>
                  <a:srgbClr val="7373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4637"/>
              </a:lnSpc>
            </a:pPr>
            <a:r>
              <a:rPr lang="en-US" sz="3312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 marL="0" indent="0" lvl="0">
              <a:lnSpc>
                <a:spcPts val="4637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1510056" y="8308557"/>
            <a:ext cx="3835165" cy="3629025"/>
          </a:xfrm>
          <a:custGeom>
            <a:avLst/>
            <a:gdLst/>
            <a:ahLst/>
            <a:cxnLst/>
            <a:rect r="r" b="b" t="t" l="l"/>
            <a:pathLst>
              <a:path h="3629025" w="3835165">
                <a:moveTo>
                  <a:pt x="0" y="0"/>
                </a:moveTo>
                <a:lnTo>
                  <a:pt x="3835165" y="0"/>
                </a:lnTo>
                <a:lnTo>
                  <a:pt x="3835165" y="3629025"/>
                </a:lnTo>
                <a:lnTo>
                  <a:pt x="0" y="36290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738453" y="4210216"/>
            <a:ext cx="12401445" cy="0"/>
          </a:xfrm>
          <a:prstGeom prst="line">
            <a:avLst/>
          </a:prstGeom>
          <a:ln cap="rnd" w="123825">
            <a:solidFill>
              <a:srgbClr val="1BAF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905605" y="-2517234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1749747" y="9035014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038168" y="4549208"/>
            <a:ext cx="1587696" cy="841479"/>
          </a:xfrm>
          <a:custGeom>
            <a:avLst/>
            <a:gdLst/>
            <a:ahLst/>
            <a:cxnLst/>
            <a:rect r="r" b="b" t="t" l="l"/>
            <a:pathLst>
              <a:path h="841479" w="1587696">
                <a:moveTo>
                  <a:pt x="0" y="0"/>
                </a:moveTo>
                <a:lnTo>
                  <a:pt x="1587696" y="0"/>
                </a:lnTo>
                <a:lnTo>
                  <a:pt x="1587696" y="841479"/>
                </a:lnTo>
                <a:lnTo>
                  <a:pt x="0" y="841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16618" y="4549208"/>
            <a:ext cx="1587696" cy="841479"/>
          </a:xfrm>
          <a:custGeom>
            <a:avLst/>
            <a:gdLst/>
            <a:ahLst/>
            <a:cxnLst/>
            <a:rect r="r" b="b" t="t" l="l"/>
            <a:pathLst>
              <a:path h="841479" w="1587696">
                <a:moveTo>
                  <a:pt x="0" y="0"/>
                </a:moveTo>
                <a:lnTo>
                  <a:pt x="1587696" y="0"/>
                </a:lnTo>
                <a:lnTo>
                  <a:pt x="1587696" y="841479"/>
                </a:lnTo>
                <a:lnTo>
                  <a:pt x="0" y="841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49725" y="7410450"/>
            <a:ext cx="2876550" cy="2876550"/>
          </a:xfrm>
          <a:custGeom>
            <a:avLst/>
            <a:gdLst/>
            <a:ahLst/>
            <a:cxnLst/>
            <a:rect r="r" b="b" t="t" l="l"/>
            <a:pathLst>
              <a:path h="2876550" w="2876550">
                <a:moveTo>
                  <a:pt x="0" y="0"/>
                </a:moveTo>
                <a:lnTo>
                  <a:pt x="2876550" y="0"/>
                </a:lnTo>
                <a:lnTo>
                  <a:pt x="2876550" y="2876550"/>
                </a:lnTo>
                <a:lnTo>
                  <a:pt x="0" y="28765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42759" y="1386634"/>
            <a:ext cx="13367057" cy="301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2"/>
              </a:lnSpc>
            </a:pPr>
            <a:r>
              <a:rPr lang="en-US" sz="10841" b="true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What is the </a:t>
            </a:r>
            <a:r>
              <a:rPr lang="en-US" b="true" sz="10841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Present Simple?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77521" y="5409737"/>
            <a:ext cx="7943107" cy="469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7"/>
              </a:lnSpc>
              <a:spcBef>
                <a:spcPct val="0"/>
              </a:spcBef>
            </a:pPr>
            <a:r>
              <a:rPr lang="en-US" b="true" sz="3312">
                <a:solidFill>
                  <a:srgbClr val="73737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Po</a:t>
            </a:r>
            <a:r>
              <a:rPr lang="en-US" b="true" sz="3312" strike="noStrike" u="none">
                <a:solidFill>
                  <a:srgbClr val="73737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ints</a:t>
            </a:r>
          </a:p>
          <a:p>
            <a:pPr algn="l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ed for facts and gener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ruths</a:t>
            </a:r>
          </a:p>
          <a:p>
            <a:pPr algn="l" marL="715150" indent="-357575" lvl="1">
              <a:lnSpc>
                <a:spcPts val="4637"/>
              </a:lnSpc>
              <a:spcBef>
                <a:spcPct val="0"/>
              </a:spcBef>
              <a:buFont typeface="Arial"/>
              <a:buChar char="•"/>
            </a:pP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scr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be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outines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hab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its</a:t>
            </a:r>
          </a:p>
          <a:p>
            <a:pPr algn="l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alks about per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 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situati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ns</a:t>
            </a:r>
          </a:p>
          <a:p>
            <a:pPr algn="l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Common in 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veryday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bu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ess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312" strike="noStrike" u="none">
                <a:solidFill>
                  <a:srgbClr val="042B4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English</a:t>
            </a:r>
          </a:p>
          <a:p>
            <a:pPr algn="l">
              <a:lnSpc>
                <a:spcPts val="4637"/>
              </a:lnSpc>
            </a:pPr>
          </a:p>
          <a:p>
            <a:pPr algn="ctr" marL="0" indent="0" lvl="0">
              <a:lnSpc>
                <a:spcPts val="4637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520628" y="5611391"/>
            <a:ext cx="6767372" cy="348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7"/>
              </a:lnSpc>
            </a:pPr>
            <a:r>
              <a:rPr lang="en-US" sz="3312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Examples</a:t>
            </a:r>
          </a:p>
          <a:p>
            <a:pPr algn="l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boils at 100°C.</a:t>
            </a:r>
          </a:p>
          <a:p>
            <a:pPr algn="l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 w</a:t>
            </a: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orks in marketing.</a:t>
            </a:r>
          </a:p>
          <a:p>
            <a:pPr algn="l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travel ever</a:t>
            </a: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month.</a:t>
            </a:r>
          </a:p>
          <a:p>
            <a:pPr algn="l">
              <a:lnSpc>
                <a:spcPts val="4637"/>
              </a:lnSpc>
            </a:pPr>
          </a:p>
          <a:p>
            <a:pPr algn="ctr" marL="0" indent="0" lvl="0">
              <a:lnSpc>
                <a:spcPts val="463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961755" y="2899017"/>
            <a:ext cx="12401445" cy="0"/>
          </a:xfrm>
          <a:prstGeom prst="line">
            <a:avLst/>
          </a:prstGeom>
          <a:ln cap="rnd" w="123825">
            <a:solidFill>
              <a:srgbClr val="1BAF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591136" y="-2057400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1725340" y="-1028700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188829" y="3098153"/>
            <a:ext cx="4046284" cy="464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7"/>
              </a:lnSpc>
            </a:pPr>
            <a:r>
              <a:rPr lang="en-US" sz="3312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Rule</a:t>
            </a:r>
          </a:p>
          <a:p>
            <a:pPr algn="l">
              <a:lnSpc>
                <a:spcPts val="4637"/>
              </a:lnSpc>
            </a:pP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+ Base Verb</a:t>
            </a:r>
          </a:p>
          <a:p>
            <a:pPr algn="l">
              <a:lnSpc>
                <a:spcPts val="4637"/>
              </a:lnSpc>
            </a:pPr>
            <a:r>
              <a:rPr lang="en-US" sz="3312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</a:t>
            </a:r>
            <a:r>
              <a:rPr lang="en-US" sz="3312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ortant</a:t>
            </a:r>
          </a:p>
          <a:p>
            <a:pPr algn="l">
              <a:lnSpc>
                <a:spcPts val="4637"/>
              </a:lnSpc>
            </a:pP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-s or -es with:</a:t>
            </a:r>
          </a:p>
          <a:p>
            <a:pPr algn="l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</a:p>
          <a:p>
            <a:pPr algn="l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</a:p>
          <a:p>
            <a:pPr algn="l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</a:t>
            </a:r>
          </a:p>
          <a:p>
            <a:pPr algn="ctr" marL="0" indent="0" lvl="0">
              <a:lnSpc>
                <a:spcPts val="463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844728" y="3000375"/>
            <a:ext cx="7908096" cy="290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37"/>
              </a:lnSpc>
            </a:pPr>
            <a:r>
              <a:rPr lang="en-US" b="true" sz="3312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Examples</a:t>
            </a:r>
          </a:p>
          <a:p>
            <a:pPr algn="just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sp</a:t>
            </a: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ecializes in high-tech </a:t>
            </a: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roducts.</a:t>
            </a:r>
          </a:p>
          <a:p>
            <a:pPr algn="just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</a:t>
            </a: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works in finance.</a:t>
            </a:r>
          </a:p>
          <a:p>
            <a:pPr algn="just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ey </a:t>
            </a: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</a:t>
            </a:r>
            <a:r>
              <a:rPr lang="en-US" sz="33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ecialize in Latin American music.</a:t>
            </a:r>
          </a:p>
          <a:p>
            <a:pPr algn="just" marL="0" indent="0" lvl="0">
              <a:lnSpc>
                <a:spcPts val="4637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102854">
            <a:off x="9701066" y="5625711"/>
            <a:ext cx="2663191" cy="266319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39285" t="0" r="-3928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-421905">
            <a:off x="12334161" y="5655045"/>
            <a:ext cx="2663191" cy="266319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25046" t="0" r="-2504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125409">
            <a:off x="15054532" y="5954770"/>
            <a:ext cx="2663191" cy="266319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25046" t="0" r="-25046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720543" y="1147625"/>
            <a:ext cx="12364491" cy="173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2"/>
              </a:lnSpc>
            </a:pPr>
            <a:r>
              <a:rPr lang="en-US" b="true" sz="10841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 Positive Forms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897792" y="2341704"/>
            <a:ext cx="13106968" cy="13833191"/>
            <a:chOff x="0" y="0"/>
            <a:chExt cx="17475957" cy="18444255"/>
          </a:xfrm>
        </p:grpSpPr>
        <p:grpSp>
          <p:nvGrpSpPr>
            <p:cNvPr name="Group 4" id="4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AutoShape 11" id="11"/>
          <p:cNvSpPr/>
          <p:nvPr/>
        </p:nvSpPr>
        <p:spPr>
          <a:xfrm>
            <a:off x="3108550" y="2279792"/>
            <a:ext cx="12401445" cy="0"/>
          </a:xfrm>
          <a:prstGeom prst="line">
            <a:avLst/>
          </a:prstGeom>
          <a:ln cap="rnd" w="123825">
            <a:solidFill>
              <a:srgbClr val="1BAF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5085033" y="-2057400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-1725340" y="-1028700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-2638910">
            <a:off x="-993035" y="3827510"/>
            <a:ext cx="2883923" cy="11316952"/>
            <a:chOff x="0" y="0"/>
            <a:chExt cx="759552" cy="29805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9552" cy="2980596"/>
            </a:xfrm>
            <a:custGeom>
              <a:avLst/>
              <a:gdLst/>
              <a:ahLst/>
              <a:cxnLst/>
              <a:rect r="r" b="b" t="t" l="l"/>
              <a:pathLst>
                <a:path h="2980596" w="759552">
                  <a:moveTo>
                    <a:pt x="0" y="0"/>
                  </a:moveTo>
                  <a:lnTo>
                    <a:pt x="759552" y="0"/>
                  </a:lnTo>
                  <a:lnTo>
                    <a:pt x="759552" y="2980596"/>
                  </a:lnTo>
                  <a:lnTo>
                    <a:pt x="0" y="2980596"/>
                  </a:lnTo>
                  <a:close/>
                </a:path>
              </a:pathLst>
            </a:custGeom>
            <a:solidFill>
              <a:srgbClr val="1BAFA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59552" cy="3028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428516" y="2602784"/>
            <a:ext cx="8945097" cy="6317475"/>
          </a:xfrm>
          <a:custGeom>
            <a:avLst/>
            <a:gdLst/>
            <a:ahLst/>
            <a:cxnLst/>
            <a:rect r="r" b="b" t="t" l="l"/>
            <a:pathLst>
              <a:path h="6317475" w="8945097">
                <a:moveTo>
                  <a:pt x="0" y="0"/>
                </a:moveTo>
                <a:lnTo>
                  <a:pt x="8945097" y="0"/>
                </a:lnTo>
                <a:lnTo>
                  <a:pt x="8945097" y="6317475"/>
                </a:lnTo>
                <a:lnTo>
                  <a:pt x="0" y="6317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108550" y="650927"/>
            <a:ext cx="13556873" cy="161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31"/>
              </a:lnSpc>
            </a:pPr>
            <a:r>
              <a:rPr lang="en-US" sz="10141" b="true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Sp</a:t>
            </a:r>
            <a:r>
              <a:rPr lang="en-US" b="true" sz="10141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elling Rules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38942" y="5675796"/>
            <a:ext cx="4209768" cy="299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47"/>
              </a:lnSpc>
            </a:pPr>
            <a:r>
              <a:rPr lang="en-US" sz="3390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spelling changes help pronunciation and are very common in Engli</a:t>
            </a:r>
            <a:r>
              <a:rPr lang="en-US" sz="3390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 writing.</a:t>
            </a:r>
          </a:p>
          <a:p>
            <a:pPr algn="just">
              <a:lnSpc>
                <a:spcPts val="474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830089" y="1832625"/>
            <a:ext cx="12401445" cy="0"/>
          </a:xfrm>
          <a:prstGeom prst="line">
            <a:avLst/>
          </a:prstGeom>
          <a:ln cap="rnd" w="123825">
            <a:solidFill>
              <a:srgbClr val="1BAF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654033" y="-1737245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3" y="0"/>
                </a:lnTo>
                <a:lnTo>
                  <a:pt x="43485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2719799" y="-2697765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592807">
            <a:off x="13990518" y="1289466"/>
            <a:ext cx="3327030" cy="332703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49999" t="0" r="-5000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420953">
            <a:off x="8507842" y="3669652"/>
            <a:ext cx="6101201" cy="3327030"/>
            <a:chOff x="0" y="0"/>
            <a:chExt cx="149053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0536" cy="812800"/>
            </a:xfrm>
            <a:custGeom>
              <a:avLst/>
              <a:gdLst/>
              <a:ahLst/>
              <a:cxnLst/>
              <a:rect r="r" b="b" t="t" l="l"/>
              <a:pathLst>
                <a:path h="812800" w="1490536">
                  <a:moveTo>
                    <a:pt x="0" y="0"/>
                  </a:moveTo>
                  <a:lnTo>
                    <a:pt x="1490536" y="0"/>
                  </a:lnTo>
                  <a:lnTo>
                    <a:pt x="149053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430" r="0" b="-43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66332">
            <a:off x="14263320" y="5609235"/>
            <a:ext cx="3327030" cy="332703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24212" t="0" r="-2421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28735" y="1860771"/>
            <a:ext cx="11068341" cy="821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0"/>
              </a:lnSpc>
            </a:pPr>
            <a:r>
              <a:rPr lang="en-US" sz="3586" b="true">
                <a:solidFill>
                  <a:srgbClr val="042B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586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Rule</a:t>
            </a:r>
          </a:p>
          <a:p>
            <a:pPr algn="l">
              <a:lnSpc>
                <a:spcPts val="5020"/>
              </a:lnSpc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+ do/does + not + base verb</a:t>
            </a:r>
          </a:p>
          <a:p>
            <a:pPr algn="l">
              <a:lnSpc>
                <a:spcPts val="5020"/>
              </a:lnSpc>
            </a:pPr>
          </a:p>
          <a:p>
            <a:pPr algn="l">
              <a:lnSpc>
                <a:spcPts val="4880"/>
              </a:lnSpc>
            </a:pPr>
            <a:r>
              <a:rPr lang="en-US" sz="3486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Examples</a:t>
            </a:r>
          </a:p>
          <a:p>
            <a:pPr algn="l" marL="774222" indent="-387111" lvl="1">
              <a:lnSpc>
                <a:spcPts val="5020"/>
              </a:lnSpc>
              <a:buFont typeface="Arial"/>
              <a:buChar char="•"/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doesn’t produce software.</a:t>
            </a:r>
          </a:p>
          <a:p>
            <a:pPr algn="l" marL="774222" indent="-387111" lvl="1">
              <a:lnSpc>
                <a:spcPts val="5020"/>
              </a:lnSpc>
              <a:buFont typeface="Arial"/>
              <a:buChar char="•"/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don't speak Spanish.</a:t>
            </a:r>
          </a:p>
          <a:p>
            <a:pPr algn="l" marL="774222" indent="-387111" lvl="1">
              <a:lnSpc>
                <a:spcPts val="5020"/>
              </a:lnSpc>
              <a:buFont typeface="Arial"/>
              <a:buChar char="•"/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 doesn’t like coffee.</a:t>
            </a:r>
          </a:p>
          <a:p>
            <a:pPr algn="l">
              <a:lnSpc>
                <a:spcPts val="5020"/>
              </a:lnSpc>
            </a:pPr>
          </a:p>
          <a:p>
            <a:pPr algn="l">
              <a:lnSpc>
                <a:spcPts val="5020"/>
              </a:lnSpc>
            </a:pPr>
            <a:r>
              <a:rPr lang="en-US" sz="3586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Reminder</a:t>
            </a:r>
          </a:p>
          <a:p>
            <a:pPr algn="l">
              <a:lnSpc>
                <a:spcPts val="5020"/>
              </a:lnSpc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doesn’t, use the base verb:</a:t>
            </a:r>
          </a:p>
          <a:p>
            <a:pPr algn="l" marL="774222" indent="-387111" lvl="1">
              <a:lnSpc>
                <a:spcPts val="5020"/>
              </a:lnSpc>
              <a:buFont typeface="Arial"/>
              <a:buChar char="•"/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Incorrect: doesn’t works</a:t>
            </a:r>
          </a:p>
          <a:p>
            <a:pPr algn="l" marL="774222" indent="-387111" lvl="1">
              <a:lnSpc>
                <a:spcPts val="5020"/>
              </a:lnSpc>
              <a:buFont typeface="Arial"/>
              <a:buChar char="•"/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Correct: doesn’t work</a:t>
            </a:r>
          </a:p>
          <a:p>
            <a:pPr algn="ctr" marL="0" indent="0" lvl="0">
              <a:lnSpc>
                <a:spcPts val="53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-545532" y="243955"/>
            <a:ext cx="13556873" cy="158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5"/>
              </a:lnSpc>
            </a:pPr>
            <a:r>
              <a:rPr lang="en-US" b="true" sz="9941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N</a:t>
            </a:r>
            <a:r>
              <a:rPr lang="en-US" b="true" sz="9941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egative Form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49176" y="7860669"/>
            <a:ext cx="5160158" cy="296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37"/>
              </a:lnSpc>
            </a:pPr>
            <a:r>
              <a:rPr lang="en-US" b="true" sz="2812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</a:t>
            </a:r>
          </a:p>
          <a:p>
            <a:pPr algn="just">
              <a:lnSpc>
                <a:spcPts val="3937"/>
              </a:lnSpc>
            </a:pPr>
            <a:r>
              <a:rPr lang="en-US" sz="28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doesn’t, use the base verb:</a:t>
            </a:r>
          </a:p>
          <a:p>
            <a:pPr algn="just" marL="607203" indent="-303601" lvl="1">
              <a:lnSpc>
                <a:spcPts val="3937"/>
              </a:lnSpc>
              <a:buFont typeface="Arial"/>
              <a:buChar char="•"/>
            </a:pPr>
            <a:r>
              <a:rPr lang="en-US" sz="28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Incorrect: doesn’t works</a:t>
            </a:r>
          </a:p>
          <a:p>
            <a:pPr algn="just" marL="607203" indent="-303601" lvl="1">
              <a:lnSpc>
                <a:spcPts val="3937"/>
              </a:lnSpc>
              <a:buFont typeface="Arial"/>
              <a:buChar char="•"/>
            </a:pPr>
            <a:r>
              <a:rPr lang="en-US" sz="28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Correct: doesn’t w</a:t>
            </a:r>
            <a:r>
              <a:rPr lang="en-US" sz="2812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ork</a:t>
            </a:r>
          </a:p>
          <a:p>
            <a:pPr algn="just">
              <a:lnSpc>
                <a:spcPts val="3937"/>
              </a:lnSpc>
            </a:pPr>
          </a:p>
          <a:p>
            <a:pPr algn="just">
              <a:lnSpc>
                <a:spcPts val="393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303913" y="2837104"/>
            <a:ext cx="12401445" cy="0"/>
          </a:xfrm>
          <a:prstGeom prst="line">
            <a:avLst/>
          </a:prstGeom>
          <a:ln cap="rnd" w="123825">
            <a:solidFill>
              <a:srgbClr val="1BAF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825105" y="-1777817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3024578" y="-1581543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942458">
            <a:off x="12589356" y="6514870"/>
            <a:ext cx="4781893" cy="2677860"/>
          </a:xfrm>
          <a:custGeom>
            <a:avLst/>
            <a:gdLst/>
            <a:ahLst/>
            <a:cxnLst/>
            <a:rect r="r" b="b" t="t" l="l"/>
            <a:pathLst>
              <a:path h="2677860" w="4781893">
                <a:moveTo>
                  <a:pt x="0" y="0"/>
                </a:moveTo>
                <a:lnTo>
                  <a:pt x="4781892" y="0"/>
                </a:lnTo>
                <a:lnTo>
                  <a:pt x="4781892" y="2677860"/>
                </a:lnTo>
                <a:lnTo>
                  <a:pt x="0" y="26778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77639" y="-35636"/>
            <a:ext cx="13556873" cy="287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b="true" sz="9000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Present Simple: Questions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7140" y="3189529"/>
            <a:ext cx="8958935" cy="6554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9"/>
              </a:lnSpc>
            </a:pPr>
            <a:r>
              <a:rPr lang="en-US" b="true" sz="3714">
                <a:solidFill>
                  <a:srgbClr val="73737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Yes/No Questions</a:t>
            </a:r>
          </a:p>
          <a:p>
            <a:pPr algn="just">
              <a:lnSpc>
                <a:spcPts val="5199"/>
              </a:lnSpc>
            </a:pPr>
            <a:r>
              <a:rPr lang="en-US" sz="3714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Do/Does + subject +</a:t>
            </a:r>
            <a:r>
              <a:rPr lang="en-US" sz="3714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 base verb?</a:t>
            </a:r>
          </a:p>
          <a:p>
            <a:pPr algn="just">
              <a:lnSpc>
                <a:spcPts val="5199"/>
              </a:lnSpc>
            </a:pPr>
            <a:r>
              <a:rPr lang="en-US" b="true" sz="3714">
                <a:solidFill>
                  <a:srgbClr val="73737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Examples</a:t>
            </a:r>
          </a:p>
          <a:p>
            <a:pPr algn="just" marL="801903" indent="-400951" lvl="1">
              <a:lnSpc>
                <a:spcPts val="5199"/>
              </a:lnSpc>
              <a:buFont typeface="Arial"/>
              <a:buChar char="•"/>
            </a:pPr>
            <a:r>
              <a:rPr lang="en-US" sz="3714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Do you have many competitors?</a:t>
            </a:r>
          </a:p>
          <a:p>
            <a:pPr algn="just" marL="801903" indent="-400951" lvl="1">
              <a:lnSpc>
                <a:spcPts val="5199"/>
              </a:lnSpc>
              <a:buFont typeface="Arial"/>
              <a:buChar char="•"/>
            </a:pPr>
            <a:r>
              <a:rPr lang="en-US" sz="3714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Does she</a:t>
            </a:r>
            <a:r>
              <a:rPr lang="en-US" sz="3714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 work here?</a:t>
            </a:r>
          </a:p>
          <a:p>
            <a:pPr algn="just">
              <a:lnSpc>
                <a:spcPts val="5199"/>
              </a:lnSpc>
            </a:pPr>
            <a:r>
              <a:rPr lang="en-US" b="true" sz="3714">
                <a:solidFill>
                  <a:srgbClr val="73737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WH- Questions</a:t>
            </a:r>
          </a:p>
          <a:p>
            <a:pPr algn="just">
              <a:lnSpc>
                <a:spcPts val="5199"/>
              </a:lnSpc>
            </a:pPr>
            <a:r>
              <a:rPr lang="en-US" sz="3714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Qu</a:t>
            </a:r>
            <a:r>
              <a:rPr lang="en-US" sz="3714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estion Word + do/does + subject + verb</a:t>
            </a:r>
          </a:p>
          <a:p>
            <a:pPr algn="just">
              <a:lnSpc>
                <a:spcPts val="5199"/>
              </a:lnSpc>
            </a:pPr>
          </a:p>
          <a:p>
            <a:pPr algn="just" marL="0" indent="0" lvl="0">
              <a:lnSpc>
                <a:spcPts val="51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019366" y="3306814"/>
            <a:ext cx="8435885" cy="261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714" b="true">
                <a:solidFill>
                  <a:srgbClr val="73737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Examples</a:t>
            </a:r>
          </a:p>
          <a:p>
            <a:pPr algn="l" marL="801903" indent="-400951" lvl="1">
              <a:lnSpc>
                <a:spcPts val="5199"/>
              </a:lnSpc>
              <a:buFont typeface="Arial"/>
              <a:buChar char="•"/>
            </a:pPr>
            <a:r>
              <a:rPr lang="en-US" sz="3714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do you work?</a:t>
            </a:r>
          </a:p>
          <a:p>
            <a:pPr algn="l" marL="801903" indent="-400951" lvl="1">
              <a:lnSpc>
                <a:spcPts val="5199"/>
              </a:lnSpc>
              <a:buFont typeface="Arial"/>
              <a:buChar char="•"/>
            </a:pPr>
            <a:r>
              <a:rPr lang="en-US" sz="3714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he do?</a:t>
            </a:r>
          </a:p>
          <a:p>
            <a:pPr algn="l">
              <a:lnSpc>
                <a:spcPts val="51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188791" y="3082373"/>
            <a:ext cx="12401445" cy="0"/>
          </a:xfrm>
          <a:prstGeom prst="line">
            <a:avLst/>
          </a:prstGeom>
          <a:ln cap="rnd" w="123825">
            <a:solidFill>
              <a:srgbClr val="1BAF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825105" y="-1777817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3024578" y="-1581543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341745" y="209633"/>
            <a:ext cx="13556873" cy="287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9000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Present Simple: </a:t>
            </a:r>
          </a:p>
          <a:p>
            <a:pPr algn="just">
              <a:lnSpc>
                <a:spcPts val="10080"/>
              </a:lnSpc>
            </a:pPr>
            <a:r>
              <a:rPr lang="en-US" b="true" sz="9000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Common Mistakes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41745" y="3593318"/>
            <a:ext cx="8958935" cy="524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9"/>
              </a:lnSpc>
            </a:pPr>
            <a:r>
              <a:rPr lang="en-US" b="true" sz="3714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Mistake 1</a:t>
            </a:r>
          </a:p>
          <a:p>
            <a:pPr algn="just" marL="801903" indent="-400951" lvl="1">
              <a:lnSpc>
                <a:spcPts val="5199"/>
              </a:lnSpc>
              <a:buFont typeface="Arial"/>
              <a:buChar char="•"/>
            </a:pPr>
            <a:r>
              <a:rPr lang="en-US" sz="3714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Incorrect: He don’t work here.</a:t>
            </a:r>
          </a:p>
          <a:p>
            <a:pPr algn="just" marL="801903" indent="-400951" lvl="1">
              <a:lnSpc>
                <a:spcPts val="5199"/>
              </a:lnSpc>
              <a:buFont typeface="Arial"/>
              <a:buChar char="•"/>
            </a:pPr>
            <a:r>
              <a:rPr lang="en-US" sz="3714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Correct:</a:t>
            </a:r>
            <a:r>
              <a:rPr lang="en-US" sz="3714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 doesn’t work here.</a:t>
            </a:r>
          </a:p>
          <a:p>
            <a:pPr algn="just">
              <a:lnSpc>
                <a:spcPts val="5199"/>
              </a:lnSpc>
            </a:pPr>
            <a:r>
              <a:rPr lang="en-US" b="true" sz="3714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Mistake 2</a:t>
            </a:r>
          </a:p>
          <a:p>
            <a:pPr algn="just" marL="801903" indent="-400951" lvl="1">
              <a:lnSpc>
                <a:spcPts val="5199"/>
              </a:lnSpc>
              <a:buFont typeface="Arial"/>
              <a:buChar char="•"/>
            </a:pPr>
            <a:r>
              <a:rPr lang="en-US" sz="3714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Incorrect: Do she like tea?</a:t>
            </a:r>
          </a:p>
          <a:p>
            <a:pPr algn="just" marL="801903" indent="-400951" lvl="1">
              <a:lnSpc>
                <a:spcPts val="5199"/>
              </a:lnSpc>
              <a:buFont typeface="Arial"/>
              <a:buChar char="•"/>
            </a:pPr>
            <a:r>
              <a:rPr lang="en-US" sz="3714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Correct: Does she</a:t>
            </a:r>
            <a:r>
              <a:rPr lang="en-US" sz="3714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like tea?</a:t>
            </a:r>
          </a:p>
          <a:p>
            <a:pPr algn="just">
              <a:lnSpc>
                <a:spcPts val="5199"/>
              </a:lnSpc>
            </a:pPr>
          </a:p>
          <a:p>
            <a:pPr algn="just" marL="0" indent="0" lvl="0">
              <a:lnSpc>
                <a:spcPts val="51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656075" y="3593318"/>
            <a:ext cx="8435885" cy="327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714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Mistake 3</a:t>
            </a:r>
          </a:p>
          <a:p>
            <a:pPr algn="l" marL="801903" indent="-400951" lvl="1">
              <a:lnSpc>
                <a:spcPts val="5199"/>
              </a:lnSpc>
              <a:buFont typeface="Arial"/>
              <a:buChar char="•"/>
            </a:pPr>
            <a:r>
              <a:rPr lang="en-US" sz="3714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Incorrect: S</a:t>
            </a:r>
            <a:r>
              <a:rPr lang="en-US" sz="3714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work every day.</a:t>
            </a:r>
          </a:p>
          <a:p>
            <a:pPr algn="l" marL="801903" indent="-400951" lvl="1">
              <a:lnSpc>
                <a:spcPts val="5199"/>
              </a:lnSpc>
              <a:buFont typeface="Arial"/>
              <a:buChar char="•"/>
            </a:pPr>
            <a:r>
              <a:rPr lang="en-US" sz="3714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Correct: She works every day.</a:t>
            </a: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852250">
            <a:off x="11256157" y="6600842"/>
            <a:ext cx="6964186" cy="3327030"/>
            <a:chOff x="0" y="0"/>
            <a:chExt cx="1701365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1365" cy="812800"/>
            </a:xfrm>
            <a:custGeom>
              <a:avLst/>
              <a:gdLst/>
              <a:ahLst/>
              <a:cxnLst/>
              <a:rect r="r" b="b" t="t" l="l"/>
              <a:pathLst>
                <a:path h="812800" w="1701365">
                  <a:moveTo>
                    <a:pt x="0" y="0"/>
                  </a:moveTo>
                  <a:lnTo>
                    <a:pt x="1701365" y="0"/>
                  </a:lnTo>
                  <a:lnTo>
                    <a:pt x="1701365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-4040" r="0" b="-404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830089" y="1832625"/>
            <a:ext cx="12401445" cy="0"/>
          </a:xfrm>
          <a:prstGeom prst="line">
            <a:avLst/>
          </a:prstGeom>
          <a:ln cap="rnd" w="123825">
            <a:solidFill>
              <a:srgbClr val="1BAF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654033" y="-1737245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3" y="0"/>
                </a:lnTo>
                <a:lnTo>
                  <a:pt x="43485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2719799" y="-2697765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592807">
            <a:off x="11648132" y="2322942"/>
            <a:ext cx="4277407" cy="3327030"/>
            <a:chOff x="0" y="0"/>
            <a:chExt cx="104497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979" cy="812800"/>
            </a:xfrm>
            <a:custGeom>
              <a:avLst/>
              <a:gdLst/>
              <a:ahLst/>
              <a:cxnLst/>
              <a:rect r="r" b="b" t="t" l="l"/>
              <a:pathLst>
                <a:path h="812800" w="1044979">
                  <a:moveTo>
                    <a:pt x="0" y="0"/>
                  </a:moveTo>
                  <a:lnTo>
                    <a:pt x="1044979" y="0"/>
                  </a:lnTo>
                  <a:lnTo>
                    <a:pt x="104497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8372" t="0" r="-837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420953">
            <a:off x="9006870" y="5719126"/>
            <a:ext cx="6101201" cy="3327030"/>
            <a:chOff x="0" y="0"/>
            <a:chExt cx="149053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0536" cy="812800"/>
            </a:xfrm>
            <a:custGeom>
              <a:avLst/>
              <a:gdLst/>
              <a:ahLst/>
              <a:cxnLst/>
              <a:rect r="r" b="b" t="t" l="l"/>
              <a:pathLst>
                <a:path h="812800" w="1490536">
                  <a:moveTo>
                    <a:pt x="0" y="0"/>
                  </a:moveTo>
                  <a:lnTo>
                    <a:pt x="1490536" y="0"/>
                  </a:lnTo>
                  <a:lnTo>
                    <a:pt x="149053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11127" r="0" b="-1112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275968" y="1923237"/>
            <a:ext cx="11068341" cy="633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20"/>
              </a:lnSpc>
            </a:pPr>
            <a:r>
              <a:rPr lang="en-US" b="true" sz="3586">
                <a:solidFill>
                  <a:srgbClr val="042B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3586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3586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Practice </a:t>
            </a:r>
          </a:p>
          <a:p>
            <a:pPr algn="just">
              <a:lnSpc>
                <a:spcPts val="5020"/>
              </a:lnSpc>
            </a:pPr>
            <a:r>
              <a:rPr lang="en-US" b="true" sz="3586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</a:t>
            </a:r>
            <a:r>
              <a:rPr lang="en-US" b="true" sz="3586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Complete the Sentenc</a:t>
            </a:r>
            <a:r>
              <a:rPr lang="en-US" b="true" sz="3586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</a:t>
            </a:r>
          </a:p>
          <a:p>
            <a:pPr algn="l" marL="774222" indent="-387111" lvl="1">
              <a:lnSpc>
                <a:spcPts val="5020"/>
              </a:lnSpc>
              <a:buAutoNum type="arabicPeriod" startAt="1"/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 _____ (work) in HR.</a:t>
            </a:r>
          </a:p>
          <a:p>
            <a:pPr algn="l" marL="774222" indent="-387111" lvl="1">
              <a:lnSpc>
                <a:spcPts val="5020"/>
              </a:lnSpc>
              <a:buAutoNum type="arabicPeriod" startAt="1"/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_____ (not/</a:t>
            </a: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live)</a:t>
            </a: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Brazil.</a:t>
            </a:r>
          </a:p>
          <a:p>
            <a:pPr algn="l" marL="774222" indent="-387111" lvl="1">
              <a:lnSpc>
                <a:spcPts val="5020"/>
              </a:lnSpc>
              <a:buAutoNum type="arabicPeriod" startAt="1"/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 he speak Spanish?</a:t>
            </a:r>
          </a:p>
          <a:p>
            <a:pPr algn="l" marL="774222" indent="-387111" lvl="1">
              <a:lnSpc>
                <a:spcPts val="5020"/>
              </a:lnSpc>
              <a:buAutoNum type="arabicPeriod" startAt="1"/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_____ you work?</a:t>
            </a:r>
          </a:p>
          <a:p>
            <a:pPr algn="just">
              <a:lnSpc>
                <a:spcPts val="5020"/>
              </a:lnSpc>
            </a:pPr>
          </a:p>
          <a:p>
            <a:pPr algn="just">
              <a:lnSpc>
                <a:spcPts val="5020"/>
              </a:lnSpc>
            </a:pPr>
          </a:p>
          <a:p>
            <a:pPr algn="l">
              <a:lnSpc>
                <a:spcPts val="5020"/>
              </a:lnSpc>
            </a:pPr>
          </a:p>
          <a:p>
            <a:pPr algn="ctr" marL="0" indent="0" lvl="0">
              <a:lnSpc>
                <a:spcPts val="53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-1861215" y="243955"/>
            <a:ext cx="13556873" cy="158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5"/>
              </a:lnSpc>
            </a:pPr>
            <a:r>
              <a:rPr lang="en-US" b="true" sz="9941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Pr</a:t>
            </a:r>
            <a:r>
              <a:rPr lang="en-US" b="true" sz="9941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actice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830089" y="1832625"/>
            <a:ext cx="12401445" cy="0"/>
          </a:xfrm>
          <a:prstGeom prst="line">
            <a:avLst/>
          </a:prstGeom>
          <a:ln cap="rnd" w="123825">
            <a:solidFill>
              <a:srgbClr val="1BAF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654033" y="-1737245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3" y="0"/>
                </a:lnTo>
                <a:lnTo>
                  <a:pt x="43485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2719799" y="-2697765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592807">
            <a:off x="11648132" y="2322942"/>
            <a:ext cx="4277407" cy="3327030"/>
            <a:chOff x="0" y="0"/>
            <a:chExt cx="104497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979" cy="812800"/>
            </a:xfrm>
            <a:custGeom>
              <a:avLst/>
              <a:gdLst/>
              <a:ahLst/>
              <a:cxnLst/>
              <a:rect r="r" b="b" t="t" l="l"/>
              <a:pathLst>
                <a:path h="812800" w="1044979">
                  <a:moveTo>
                    <a:pt x="0" y="0"/>
                  </a:moveTo>
                  <a:lnTo>
                    <a:pt x="1044979" y="0"/>
                  </a:lnTo>
                  <a:lnTo>
                    <a:pt x="104497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8372" t="0" r="-837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420953">
            <a:off x="9006870" y="5719126"/>
            <a:ext cx="6101201" cy="3327030"/>
            <a:chOff x="0" y="0"/>
            <a:chExt cx="149053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0536" cy="812800"/>
            </a:xfrm>
            <a:custGeom>
              <a:avLst/>
              <a:gdLst/>
              <a:ahLst/>
              <a:cxnLst/>
              <a:rect r="r" b="b" t="t" l="l"/>
              <a:pathLst>
                <a:path h="812800" w="1490536">
                  <a:moveTo>
                    <a:pt x="0" y="0"/>
                  </a:moveTo>
                  <a:lnTo>
                    <a:pt x="1490536" y="0"/>
                  </a:lnTo>
                  <a:lnTo>
                    <a:pt x="149053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11127" r="0" b="-1112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42680" y="1875865"/>
            <a:ext cx="11068341" cy="759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0"/>
              </a:lnSpc>
            </a:pPr>
            <a:r>
              <a:rPr lang="en-US" sz="3586" b="true">
                <a:solidFill>
                  <a:srgbClr val="042B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586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586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Practice </a:t>
            </a:r>
          </a:p>
          <a:p>
            <a:pPr algn="l">
              <a:lnSpc>
                <a:spcPts val="5020"/>
              </a:lnSpc>
            </a:pPr>
            <a:r>
              <a:rPr lang="en-US" sz="3586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</a:t>
            </a:r>
            <a:r>
              <a:rPr lang="en-US" sz="3586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Complete the Sentenc</a:t>
            </a:r>
            <a:r>
              <a:rPr lang="en-US" sz="3586" b="true">
                <a:solidFill>
                  <a:srgbClr val="7373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</a:t>
            </a:r>
          </a:p>
          <a:p>
            <a:pPr algn="l" marL="774222" indent="-387111" lvl="1">
              <a:lnSpc>
                <a:spcPts val="5020"/>
              </a:lnSpc>
              <a:buAutoNum type="arabicPeriod" startAt="1"/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 works in HR.</a:t>
            </a:r>
          </a:p>
          <a:p>
            <a:pPr algn="l" marL="774222" indent="-387111" lvl="1">
              <a:lnSpc>
                <a:spcPts val="5020"/>
              </a:lnSpc>
              <a:buAutoNum type="arabicPeriod" startAt="1"/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don’t </a:t>
            </a: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</a:t>
            </a: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Brazil.</a:t>
            </a:r>
          </a:p>
          <a:p>
            <a:pPr algn="l" marL="774222" indent="-387111" lvl="1">
              <a:lnSpc>
                <a:spcPts val="5020"/>
              </a:lnSpc>
              <a:buAutoNum type="arabicPeriod" startAt="1"/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</a:t>
            </a: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speak Spanish?</a:t>
            </a:r>
          </a:p>
          <a:p>
            <a:pPr algn="l" marL="774222" indent="-387111" lvl="1">
              <a:lnSpc>
                <a:spcPts val="5020"/>
              </a:lnSpc>
              <a:buAutoNum type="arabicPeriod" startAt="1"/>
            </a:pPr>
            <a:r>
              <a:rPr lang="en-US" sz="3586">
                <a:solidFill>
                  <a:srgbClr val="042B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do you work?</a:t>
            </a:r>
          </a:p>
          <a:p>
            <a:pPr algn="just">
              <a:lnSpc>
                <a:spcPts val="5020"/>
              </a:lnSpc>
            </a:pPr>
          </a:p>
          <a:p>
            <a:pPr algn="just">
              <a:lnSpc>
                <a:spcPts val="5020"/>
              </a:lnSpc>
            </a:pPr>
          </a:p>
          <a:p>
            <a:pPr algn="just">
              <a:lnSpc>
                <a:spcPts val="5020"/>
              </a:lnSpc>
            </a:pPr>
          </a:p>
          <a:p>
            <a:pPr algn="just">
              <a:lnSpc>
                <a:spcPts val="5020"/>
              </a:lnSpc>
            </a:pPr>
          </a:p>
          <a:p>
            <a:pPr algn="l">
              <a:lnSpc>
                <a:spcPts val="5020"/>
              </a:lnSpc>
            </a:pPr>
          </a:p>
          <a:p>
            <a:pPr algn="ctr" marL="0" indent="0" lvl="0">
              <a:lnSpc>
                <a:spcPts val="53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-1861215" y="243955"/>
            <a:ext cx="13556873" cy="158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5"/>
              </a:lnSpc>
            </a:pPr>
            <a:r>
              <a:rPr lang="en-US" b="true" sz="9941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Pr</a:t>
            </a:r>
            <a:r>
              <a:rPr lang="en-US" b="true" sz="9941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actice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13173" y="-5116547"/>
            <a:ext cx="12739640" cy="14145964"/>
            <a:chOff x="0" y="0"/>
            <a:chExt cx="16986187" cy="18861285"/>
          </a:xfrm>
        </p:grpSpPr>
        <p:grpSp>
          <p:nvGrpSpPr>
            <p:cNvPr name="Group 4" id="4"/>
            <p:cNvGrpSpPr/>
            <p:nvPr/>
          </p:nvGrpSpPr>
          <p:grpSpPr>
            <a:xfrm rot="-2362977">
              <a:off x="6337534" y="3236499"/>
              <a:ext cx="3096100" cy="15044598"/>
              <a:chOff x="0" y="0"/>
              <a:chExt cx="611575" cy="297177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2955397">
              <a:off x="-2327307" y="7541991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-2362977">
              <a:off x="8310488" y="1886008"/>
              <a:ext cx="3845230" cy="15089269"/>
              <a:chOff x="0" y="0"/>
              <a:chExt cx="759552" cy="298059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1BAFAB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-5524784" y="2341704"/>
            <a:ext cx="13106968" cy="13833191"/>
            <a:chOff x="0" y="0"/>
            <a:chExt cx="17475957" cy="18444255"/>
          </a:xfrm>
        </p:grpSpPr>
        <p:grpSp>
          <p:nvGrpSpPr>
            <p:cNvPr name="Group 12" id="12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1BAFA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AutoShape 19" id="19"/>
          <p:cNvSpPr/>
          <p:nvPr/>
        </p:nvSpPr>
        <p:spPr>
          <a:xfrm>
            <a:off x="2670972" y="2184542"/>
            <a:ext cx="12401445" cy="0"/>
          </a:xfrm>
          <a:prstGeom prst="line">
            <a:avLst/>
          </a:prstGeom>
          <a:ln cap="rnd" w="123825">
            <a:solidFill>
              <a:srgbClr val="1BAF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5363199" y="8347124"/>
            <a:ext cx="3511130" cy="3322407"/>
          </a:xfrm>
          <a:custGeom>
            <a:avLst/>
            <a:gdLst/>
            <a:ahLst/>
            <a:cxnLst/>
            <a:rect r="r" b="b" t="t" l="l"/>
            <a:pathLst>
              <a:path h="3322407" w="3511130">
                <a:moveTo>
                  <a:pt x="0" y="0"/>
                </a:moveTo>
                <a:lnTo>
                  <a:pt x="3511131" y="0"/>
                </a:lnTo>
                <a:lnTo>
                  <a:pt x="3511131" y="3322407"/>
                </a:lnTo>
                <a:lnTo>
                  <a:pt x="0" y="3322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-3041486" y="2341704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-7183792" y="593868"/>
            <a:ext cx="25780459" cy="159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9"/>
              </a:lnSpc>
            </a:pPr>
            <a:r>
              <a:rPr lang="en-US" b="true" sz="9999">
                <a:solidFill>
                  <a:srgbClr val="1BAFAB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Summary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70972" y="2548965"/>
            <a:ext cx="14069027" cy="566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83"/>
              </a:lnSpc>
              <a:spcBef>
                <a:spcPct val="0"/>
              </a:spcBef>
            </a:pPr>
          </a:p>
          <a:p>
            <a:pPr algn="l" marL="768467" indent="-384233" lvl="1">
              <a:lnSpc>
                <a:spcPts val="4983"/>
              </a:lnSpc>
              <a:buFont typeface="Arial"/>
              <a:buChar char="•"/>
            </a:pP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for facts, h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abits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routines, and p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ermanent situations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768467" indent="-384233" lvl="1">
              <a:lnSpc>
                <a:spcPts val="4983"/>
              </a:lnSpc>
              <a:buFont typeface="Arial"/>
              <a:buChar char="•"/>
            </a:pP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</a:t>
            </a:r>
            <a:r>
              <a:rPr lang="en-US" b="true" sz="355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-s/-es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verbs wi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he, s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he, it.</a:t>
            </a:r>
          </a:p>
          <a:p>
            <a:pPr algn="l" marL="768467" indent="-384233" lvl="1">
              <a:lnSpc>
                <a:spcPts val="4983"/>
              </a:lnSpc>
              <a:buFont typeface="Arial"/>
              <a:buChar char="•"/>
            </a:pP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</a:t>
            </a:r>
            <a:r>
              <a:rPr lang="en-US" b="true" sz="355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do/does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questions and negatives.</a:t>
            </a:r>
          </a:p>
          <a:p>
            <a:pPr algn="l" marL="768467" indent="-384233" lvl="1">
              <a:lnSpc>
                <a:spcPts val="4983"/>
              </a:lnSpc>
              <a:buFont typeface="Arial"/>
              <a:buChar char="•"/>
            </a:pP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</a:t>
            </a:r>
            <a:r>
              <a:rPr lang="en-US" b="true" sz="355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do/does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use the base form of the verb.</a:t>
            </a:r>
          </a:p>
          <a:p>
            <a:pPr algn="l" marL="768467" indent="-384233" lvl="1">
              <a:lnSpc>
                <a:spcPts val="4983"/>
              </a:lnSpc>
              <a:buFont typeface="Arial"/>
              <a:buChar char="•"/>
            </a:pP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verb </a:t>
            </a:r>
            <a:r>
              <a:rPr lang="en-US" b="true" sz="355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 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irregular:</a:t>
            </a:r>
          </a:p>
          <a:p>
            <a:pPr algn="just">
              <a:lnSpc>
                <a:spcPts val="4983"/>
              </a:lnSpc>
            </a:pP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am</a:t>
            </a:r>
          </a:p>
          <a:p>
            <a:pPr algn="just">
              <a:lnSpc>
                <a:spcPts val="4983"/>
              </a:lnSpc>
            </a:pP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You/We/They are</a:t>
            </a:r>
          </a:p>
          <a:p>
            <a:pPr algn="just">
              <a:lnSpc>
                <a:spcPts val="4983"/>
              </a:lnSpc>
            </a:pPr>
            <a:r>
              <a:rPr lang="en-US" sz="355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He/She/It 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31424" y="2278318"/>
            <a:ext cx="8603384" cy="655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39"/>
              </a:lnSpc>
            </a:pPr>
            <a:r>
              <a:rPr lang="en-US" b="true" sz="3814">
                <a:solidFill>
                  <a:srgbClr val="73737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 Simple                    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DAHKB1Yx8Qc</dc:identifier>
  <dcterms:modified xsi:type="dcterms:W3CDTF">2011-08-01T06:04:30Z</dcterms:modified>
  <cp:revision>1</cp:revision>
  <dc:title>1. Present Simple Tense  </dc:title>
</cp:coreProperties>
</file>